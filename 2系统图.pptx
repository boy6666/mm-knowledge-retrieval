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4582" r:id="rId3"/>
    <p:sldId id="4583" r:id="rId4"/>
    <p:sldId id="4586" r:id="rId5"/>
    <p:sldId id="4587" r:id="rId6"/>
    <p:sldId id="4593" r:id="rId7"/>
    <p:sldId id="4592" r:id="rId8"/>
    <p:sldId id="4590" r:id="rId9"/>
    <p:sldId id="4591" r:id="rId10"/>
    <p:sldId id="4594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D2B9"/>
    <a:srgbClr val="CDEAF0"/>
    <a:srgbClr val="CBE1BE"/>
    <a:srgbClr val="FFD99B"/>
    <a:srgbClr val="FFC3C7"/>
    <a:srgbClr val="B4E2D3"/>
    <a:srgbClr val="BADDF5"/>
    <a:srgbClr val="5290E2"/>
    <a:srgbClr val="FFFFFF"/>
    <a:srgbClr val="EAEC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727" autoAdjust="0"/>
    <p:restoredTop sz="90730" autoAdjust="0"/>
  </p:normalViewPr>
  <p:slideViewPr>
    <p:cSldViewPr snapToGrid="0">
      <p:cViewPr>
        <p:scale>
          <a:sx n="100" d="100"/>
          <a:sy n="100" d="100"/>
        </p:scale>
        <p:origin x="1506" y="192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6C9EB6-00C2-4A58-855C-B384D335500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2C51A7-58F4-4203-A627-0DB111D56A6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288B6-E9E3-4466-B1A7-B0EECA5946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CB2BB-B79E-4B76-924D-7F1744FA45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288B6-E9E3-4466-B1A7-B0EECA5946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CB2BB-B79E-4B76-924D-7F1744FA45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288B6-E9E3-4466-B1A7-B0EECA5946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CB2BB-B79E-4B76-924D-7F1744FA45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288B6-E9E3-4466-B1A7-B0EECA5946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CB2BB-B79E-4B76-924D-7F1744FA45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288B6-E9E3-4466-B1A7-B0EECA5946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CB2BB-B79E-4B76-924D-7F1744FA45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288B6-E9E3-4466-B1A7-B0EECA5946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CB2BB-B79E-4B76-924D-7F1744FA45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288B6-E9E3-4466-B1A7-B0EECA5946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CB2BB-B79E-4B76-924D-7F1744FA45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288B6-E9E3-4466-B1A7-B0EECA5946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CB2BB-B79E-4B76-924D-7F1744FA45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288B6-E9E3-4466-B1A7-B0EECA5946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CB2BB-B79E-4B76-924D-7F1744FA45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288B6-E9E3-4466-B1A7-B0EECA5946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CB2BB-B79E-4B76-924D-7F1744FA45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288B6-E9E3-4466-B1A7-B0EECA5946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CB2BB-B79E-4B76-924D-7F1744FA45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D288B6-E9E3-4466-B1A7-B0EECA5946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2CB2BB-B79E-4B76-924D-7F1744FA453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sv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sv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svg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.svg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3.svg"/><Relationship Id="rId1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5.svg"/><Relationship Id="rId1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7.svg"/><Relationship Id="rId1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9.svg"/><Relationship Id="rId1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7" name="组合 286"/>
          <p:cNvGrpSpPr/>
          <p:nvPr/>
        </p:nvGrpSpPr>
        <p:grpSpPr>
          <a:xfrm>
            <a:off x="-314078" y="493157"/>
            <a:ext cx="9269120" cy="6736645"/>
            <a:chOff x="-711860" y="1355257"/>
            <a:chExt cx="9269120" cy="6736645"/>
          </a:xfrm>
        </p:grpSpPr>
        <p:sp>
          <p:nvSpPr>
            <p:cNvPr id="139" name="文本框 138"/>
            <p:cNvSpPr txBox="1"/>
            <p:nvPr/>
          </p:nvSpPr>
          <p:spPr>
            <a:xfrm>
              <a:off x="-711860" y="2059448"/>
              <a:ext cx="121238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00" b="1" dirty="0">
                  <a:latin typeface="Times New Roman" panose="02020503050405090304" pitchFamily="18" charset="0"/>
                  <a:ea typeface="微软雅黑" panose="020B0503020204020204" pitchFamily="34" charset="-122"/>
                </a:rPr>
                <a:t>表现层</a:t>
              </a:r>
              <a:endParaRPr lang="zh-CN" altLang="en-US" sz="1400" b="1" dirty="0">
                <a:latin typeface="Times New Roman" panose="0202050305040509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140" name="文本框 139"/>
            <p:cNvSpPr txBox="1"/>
            <p:nvPr/>
          </p:nvSpPr>
          <p:spPr>
            <a:xfrm>
              <a:off x="-711860" y="4022871"/>
              <a:ext cx="121238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00" b="1" dirty="0">
                  <a:latin typeface="Times New Roman" panose="02020503050405090304" pitchFamily="18" charset="0"/>
                  <a:ea typeface="微软雅黑" panose="020B0503020204020204" pitchFamily="34" charset="-122"/>
                </a:rPr>
                <a:t>应用层</a:t>
              </a:r>
              <a:endParaRPr lang="zh-CN" altLang="en-US" sz="1400" b="1" dirty="0">
                <a:latin typeface="Times New Roman" panose="02020503050405090304" pitchFamily="18" charset="0"/>
                <a:ea typeface="微软雅黑" panose="020B0503020204020204" pitchFamily="34" charset="-122"/>
              </a:endParaRPr>
            </a:p>
          </p:txBody>
        </p:sp>
        <p:grpSp>
          <p:nvGrpSpPr>
            <p:cNvPr id="234" name="组合 233"/>
            <p:cNvGrpSpPr/>
            <p:nvPr/>
          </p:nvGrpSpPr>
          <p:grpSpPr>
            <a:xfrm>
              <a:off x="554040" y="1363590"/>
              <a:ext cx="6367177" cy="1661814"/>
              <a:chOff x="554040" y="1212758"/>
              <a:chExt cx="6367177" cy="1661814"/>
            </a:xfrm>
          </p:grpSpPr>
          <p:sp>
            <p:nvSpPr>
              <p:cNvPr id="49" name="矩形: 圆角 48"/>
              <p:cNvSpPr/>
              <p:nvPr/>
            </p:nvSpPr>
            <p:spPr>
              <a:xfrm>
                <a:off x="554040" y="1212758"/>
                <a:ext cx="6367177" cy="1661814"/>
              </a:xfrm>
              <a:prstGeom prst="roundRect">
                <a:avLst>
                  <a:gd name="adj" fmla="val 4632"/>
                </a:avLst>
              </a:prstGeom>
              <a:solidFill>
                <a:srgbClr val="B4E2D3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endParaRPr lang="zh-CN" altLang="en-US" sz="1000" dirty="0">
                  <a:latin typeface="Times New Roman" panose="0202050305040509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55" name="矩形: 圆角 54"/>
              <p:cNvSpPr/>
              <p:nvPr/>
            </p:nvSpPr>
            <p:spPr>
              <a:xfrm>
                <a:off x="3790700" y="1354961"/>
                <a:ext cx="1493180" cy="262656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zh-CN" altLang="en-US" sz="1200" dirty="0">
                    <a:latin typeface="Times New Roman" panose="02020503050405090304" pitchFamily="18" charset="0"/>
                    <a:ea typeface="微软雅黑" panose="020B0503020204020204" pitchFamily="34" charset="-122"/>
                  </a:rPr>
                  <a:t>图像处理与预览</a:t>
                </a:r>
                <a:endParaRPr lang="en-US" altLang="zh-CN" sz="1200" dirty="0">
                  <a:latin typeface="Times New Roman" panose="0202050305040509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65" name="矩形: 圆角 64"/>
              <p:cNvSpPr/>
              <p:nvPr/>
            </p:nvSpPr>
            <p:spPr>
              <a:xfrm>
                <a:off x="1858478" y="1357126"/>
                <a:ext cx="1830930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zh-CN" altLang="en-US" sz="1200" dirty="0">
                    <a:latin typeface="Times New Roman" panose="02020503050405090304" pitchFamily="18" charset="0"/>
                    <a:ea typeface="微软雅黑" panose="020B0503020204020204" pitchFamily="34" charset="-122"/>
                  </a:rPr>
                  <a:t>跨平台支持</a:t>
                </a:r>
                <a:endParaRPr lang="zh-CN" altLang="en-US" sz="1200" dirty="0">
                  <a:latin typeface="Times New Roman" panose="0202050305040509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67" name="矩形: 圆角 66"/>
              <p:cNvSpPr/>
              <p:nvPr/>
            </p:nvSpPr>
            <p:spPr>
              <a:xfrm>
                <a:off x="662464" y="1362304"/>
                <a:ext cx="1089661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zh-CN" altLang="en-US" sz="1200" dirty="0">
                    <a:latin typeface="Times New Roman" panose="02020503050405090304" pitchFamily="18" charset="0"/>
                    <a:ea typeface="微软雅黑" panose="020B0503020204020204" pitchFamily="34" charset="-122"/>
                  </a:rPr>
                  <a:t>页面布局</a:t>
                </a:r>
                <a:endParaRPr lang="zh-CN" altLang="en-US" sz="1200" dirty="0">
                  <a:latin typeface="Times New Roman" panose="0202050305040509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69" name="矩形: 圆角 68"/>
              <p:cNvSpPr/>
              <p:nvPr/>
            </p:nvSpPr>
            <p:spPr>
              <a:xfrm>
                <a:off x="662465" y="1715393"/>
                <a:ext cx="1946710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zh-CN" altLang="en-US" sz="1200" dirty="0">
                    <a:latin typeface="Times New Roman" panose="02020503050405090304" pitchFamily="18" charset="0"/>
                    <a:ea typeface="微软雅黑" panose="020B0503020204020204" pitchFamily="34" charset="-122"/>
                  </a:rPr>
                  <a:t>复杂数据状态管理</a:t>
                </a:r>
                <a:endParaRPr lang="zh-CN" altLang="en-US" sz="1200" dirty="0">
                  <a:latin typeface="Times New Roman" panose="0202050305040509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71" name="矩形: 圆角 70"/>
              <p:cNvSpPr/>
              <p:nvPr/>
            </p:nvSpPr>
            <p:spPr>
              <a:xfrm>
                <a:off x="2715528" y="1715392"/>
                <a:ext cx="973880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zh-CN" altLang="en-US" sz="1200" dirty="0">
                    <a:latin typeface="Times New Roman" panose="02020503050405090304" pitchFamily="18" charset="0"/>
                    <a:ea typeface="微软雅黑" panose="020B0503020204020204" pitchFamily="34" charset="-122"/>
                  </a:rPr>
                  <a:t>主题切换</a:t>
                </a:r>
                <a:endParaRPr lang="zh-CN" altLang="en-US" sz="1200" dirty="0">
                  <a:latin typeface="Times New Roman" panose="0202050305040509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73" name="矩形: 圆角 72"/>
              <p:cNvSpPr/>
              <p:nvPr/>
            </p:nvSpPr>
            <p:spPr>
              <a:xfrm>
                <a:off x="5390233" y="1354961"/>
                <a:ext cx="1427409" cy="262656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zh-CN" altLang="en-US" sz="1200" dirty="0">
                    <a:latin typeface="Times New Roman" panose="02020503050405090304" pitchFamily="18" charset="0"/>
                    <a:ea typeface="微软雅黑" panose="020B0503020204020204" pitchFamily="34" charset="-122"/>
                  </a:rPr>
                  <a:t>内容管理与编辑</a:t>
                </a:r>
                <a:endParaRPr lang="en-US" altLang="zh-CN" sz="1200" dirty="0">
                  <a:latin typeface="Times New Roman" panose="0202050305040509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86" name="矩形: 圆角 85"/>
              <p:cNvSpPr/>
              <p:nvPr/>
            </p:nvSpPr>
            <p:spPr>
              <a:xfrm>
                <a:off x="3803649" y="1715392"/>
                <a:ext cx="3026942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zh-CN" altLang="en-US" sz="1200" dirty="0">
                    <a:latin typeface="Times New Roman" panose="02020503050405090304" pitchFamily="18" charset="0"/>
                    <a:ea typeface="微软雅黑" panose="020B0503020204020204" pitchFamily="34" charset="-122"/>
                  </a:rPr>
                  <a:t>数据交互与</a:t>
                </a:r>
                <a:r>
                  <a:rPr lang="en-US" altLang="zh-CN" sz="1200">
                    <a:latin typeface="Times New Roman" panose="02020503050405090304" pitchFamily="18" charset="0"/>
                    <a:ea typeface="微软雅黑" panose="020B0503020204020204" pitchFamily="34" charset="-122"/>
                  </a:rPr>
                  <a:t>API</a:t>
                </a:r>
                <a:r>
                  <a:rPr lang="zh-CN" altLang="en-US" sz="1200">
                    <a:latin typeface="Times New Roman" panose="02020503050405090304" pitchFamily="18" charset="0"/>
                    <a:ea typeface="微软雅黑" panose="020B0503020204020204" pitchFamily="34" charset="-122"/>
                  </a:rPr>
                  <a:t>请求</a:t>
                </a:r>
                <a:endParaRPr lang="zh-CN" altLang="en-US" sz="1200" dirty="0">
                  <a:latin typeface="Times New Roman" panose="0202050305040509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76" name="矩形: 圆角 75"/>
              <p:cNvSpPr/>
              <p:nvPr/>
            </p:nvSpPr>
            <p:spPr>
              <a:xfrm>
                <a:off x="662466" y="2494626"/>
                <a:ext cx="1466625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US" altLang="zh-CN" sz="1200">
                    <a:latin typeface="Times New Roman" panose="02020503050405090304" pitchFamily="18" charset="0"/>
                    <a:ea typeface="微软雅黑" panose="020B0503020204020204" pitchFamily="34" charset="-122"/>
                  </a:rPr>
                  <a:t>Vue.js</a:t>
                </a:r>
                <a:endParaRPr lang="zh-CN" altLang="en-US" sz="1200" dirty="0">
                  <a:latin typeface="Times New Roman" panose="0202050305040509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77" name="矩形: 圆角 76"/>
              <p:cNvSpPr/>
              <p:nvPr/>
            </p:nvSpPr>
            <p:spPr>
              <a:xfrm>
                <a:off x="3803648" y="2493806"/>
                <a:ext cx="1089661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US" altLang="zh-CN" sz="1200">
                    <a:latin typeface="Times New Roman" panose="02020503050405090304" pitchFamily="18" charset="0"/>
                    <a:ea typeface="微软雅黑" panose="020B0503020204020204" pitchFamily="34" charset="-122"/>
                  </a:rPr>
                  <a:t>Element Plus</a:t>
                </a:r>
                <a:endParaRPr lang="en-US" altLang="zh-CN" sz="1200" dirty="0">
                  <a:latin typeface="Times New Roman" panose="0202050305040509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78" name="矩形: 圆角 77"/>
              <p:cNvSpPr/>
              <p:nvPr/>
            </p:nvSpPr>
            <p:spPr>
              <a:xfrm>
                <a:off x="4999662" y="2133131"/>
                <a:ext cx="750696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US" altLang="zh-CN" sz="1200">
                    <a:latin typeface="Times New Roman" panose="02020503050405090304" pitchFamily="18" charset="0"/>
                    <a:ea typeface="微软雅黑" panose="020B0503020204020204" pitchFamily="34" charset="-122"/>
                  </a:rPr>
                  <a:t>Axios</a:t>
                </a:r>
                <a:endParaRPr lang="zh-CN" altLang="en-US" sz="1200" dirty="0">
                  <a:latin typeface="Times New Roman" panose="0202050305040509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79" name="矩形: 圆角 78"/>
              <p:cNvSpPr/>
              <p:nvPr/>
            </p:nvSpPr>
            <p:spPr>
              <a:xfrm>
                <a:off x="4999662" y="2493806"/>
                <a:ext cx="750696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US" altLang="zh-CN" sz="1200">
                    <a:latin typeface="Times New Roman" panose="02020503050405090304" pitchFamily="18" charset="0"/>
                    <a:ea typeface="微软雅黑" panose="020B0503020204020204" pitchFamily="34" charset="-122"/>
                  </a:rPr>
                  <a:t>ECharts</a:t>
                </a:r>
                <a:endParaRPr lang="zh-CN" altLang="en-US" sz="1200" dirty="0">
                  <a:latin typeface="Times New Roman" panose="0202050305040509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80" name="矩形: 圆角 79"/>
              <p:cNvSpPr/>
              <p:nvPr/>
            </p:nvSpPr>
            <p:spPr>
              <a:xfrm>
                <a:off x="1858479" y="2141536"/>
                <a:ext cx="750696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US" altLang="zh-CN" sz="1200">
                    <a:latin typeface="Times New Roman" panose="02020503050405090304" pitchFamily="18" charset="0"/>
                    <a:ea typeface="微软雅黑" panose="020B0503020204020204" pitchFamily="34" charset="-122"/>
                  </a:rPr>
                  <a:t>CSS</a:t>
                </a:r>
                <a:endParaRPr lang="zh-CN" altLang="en-US" sz="1200" dirty="0">
                  <a:latin typeface="Times New Roman" panose="0202050305040509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81" name="矩形: 圆角 80"/>
              <p:cNvSpPr/>
              <p:nvPr/>
            </p:nvSpPr>
            <p:spPr>
              <a:xfrm>
                <a:off x="2715528" y="2136359"/>
                <a:ext cx="973880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US" altLang="zh-CN" sz="1200">
                    <a:latin typeface="Times New Roman" panose="02020503050405090304" pitchFamily="18" charset="0"/>
                    <a:ea typeface="微软雅黑" panose="020B0503020204020204" pitchFamily="34" charset="-122"/>
                  </a:rPr>
                  <a:t>HTML</a:t>
                </a:r>
                <a:endParaRPr lang="zh-CN" altLang="en-US" sz="1200" dirty="0">
                  <a:latin typeface="Times New Roman" panose="0202050305040509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矩形: 圆角 81"/>
              <p:cNvSpPr/>
              <p:nvPr/>
            </p:nvSpPr>
            <p:spPr>
              <a:xfrm>
                <a:off x="662464" y="2141537"/>
                <a:ext cx="1089661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US" altLang="zh-CN" sz="1200">
                    <a:latin typeface="Times New Roman" panose="02020503050405090304" pitchFamily="18" charset="0"/>
                    <a:ea typeface="微软雅黑" panose="020B0503020204020204" pitchFamily="34" charset="-122"/>
                  </a:rPr>
                  <a:t>TypeScript</a:t>
                </a:r>
                <a:endParaRPr lang="zh-CN" altLang="en-US" sz="1200" dirty="0">
                  <a:latin typeface="Times New Roman" panose="0202050305040509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83" name="矩形: 圆角 82"/>
              <p:cNvSpPr/>
              <p:nvPr/>
            </p:nvSpPr>
            <p:spPr>
              <a:xfrm>
                <a:off x="3803648" y="2133131"/>
                <a:ext cx="1089661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US" altLang="zh-CN" sz="1200">
                    <a:latin typeface="Times New Roman" panose="02020503050405090304" pitchFamily="18" charset="0"/>
                    <a:ea typeface="微软雅黑" panose="020B0503020204020204" pitchFamily="34" charset="-122"/>
                  </a:rPr>
                  <a:t>Vue Router</a:t>
                </a:r>
                <a:endParaRPr lang="zh-CN" altLang="en-US" sz="1200" dirty="0">
                  <a:latin typeface="Times New Roman" panose="0202050305040509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84" name="矩形: 圆角 83"/>
              <p:cNvSpPr/>
              <p:nvPr/>
            </p:nvSpPr>
            <p:spPr>
              <a:xfrm>
                <a:off x="5856711" y="2133130"/>
                <a:ext cx="973880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US" altLang="zh-CN" sz="1200">
                    <a:latin typeface="Times New Roman" panose="02020503050405090304" pitchFamily="18" charset="0"/>
                    <a:ea typeface="微软雅黑" panose="020B0503020204020204" pitchFamily="34" charset="-122"/>
                  </a:rPr>
                  <a:t>Pinia</a:t>
                </a:r>
                <a:endParaRPr lang="zh-CN" altLang="en-US" sz="1200" dirty="0">
                  <a:latin typeface="Times New Roman" panose="0202050305040509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85" name="矩形: 圆角 84"/>
              <p:cNvSpPr/>
              <p:nvPr/>
            </p:nvSpPr>
            <p:spPr>
              <a:xfrm>
                <a:off x="5856711" y="2493806"/>
                <a:ext cx="973880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US" altLang="zh-CN" sz="1200">
                    <a:latin typeface="Times New Roman" panose="02020503050405090304" pitchFamily="18" charset="0"/>
                    <a:ea typeface="微软雅黑" panose="020B0503020204020204" pitchFamily="34" charset="-122"/>
                  </a:rPr>
                  <a:t>MarkdownIt</a:t>
                </a:r>
                <a:endParaRPr lang="en-US" altLang="zh-CN" sz="1200" dirty="0">
                  <a:latin typeface="Times New Roman" panose="0202050305040509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96" name="矩形: 圆角 95"/>
              <p:cNvSpPr/>
              <p:nvPr/>
            </p:nvSpPr>
            <p:spPr>
              <a:xfrm>
                <a:off x="2222783" y="2494626"/>
                <a:ext cx="1466625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US" altLang="zh-CN" sz="1200">
                    <a:latin typeface="Times New Roman" panose="02020503050405090304" pitchFamily="18" charset="0"/>
                    <a:ea typeface="微软雅黑" panose="020B0503020204020204" pitchFamily="34" charset="-122"/>
                  </a:rPr>
                  <a:t>Node.js</a:t>
                </a:r>
                <a:endParaRPr lang="zh-CN" altLang="en-US" sz="1200" dirty="0">
                  <a:latin typeface="Times New Roman" panose="02020503050405090304" pitchFamily="18" charset="0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31" name="组合 230"/>
            <p:cNvGrpSpPr/>
            <p:nvPr/>
          </p:nvGrpSpPr>
          <p:grpSpPr>
            <a:xfrm>
              <a:off x="554041" y="2205102"/>
              <a:ext cx="6367176" cy="2944666"/>
              <a:chOff x="554041" y="2205102"/>
              <a:chExt cx="6367176" cy="2944666"/>
            </a:xfrm>
          </p:grpSpPr>
          <p:sp>
            <p:nvSpPr>
              <p:cNvPr id="51" name="矩形: 圆角 50"/>
              <p:cNvSpPr/>
              <p:nvPr/>
            </p:nvSpPr>
            <p:spPr>
              <a:xfrm>
                <a:off x="554041" y="3117510"/>
                <a:ext cx="6367176" cy="2032258"/>
              </a:xfrm>
              <a:prstGeom prst="roundRect">
                <a:avLst>
                  <a:gd name="adj" fmla="val 3924"/>
                </a:avLst>
              </a:prstGeom>
              <a:solidFill>
                <a:srgbClr val="CBE1BE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endParaRPr lang="zh-CN" altLang="en-US" sz="1000" dirty="0">
                  <a:latin typeface="Times New Roman" panose="0202050305040509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89" name="矩形: 圆角 88"/>
              <p:cNvSpPr/>
              <p:nvPr/>
            </p:nvSpPr>
            <p:spPr>
              <a:xfrm>
                <a:off x="1858478" y="3609655"/>
                <a:ext cx="1830930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zh-CN" altLang="en-US" sz="1200" dirty="0">
                    <a:latin typeface="Times New Roman" panose="02020503050405090304" pitchFamily="18" charset="0"/>
                    <a:ea typeface="微软雅黑" panose="020B0503020204020204" pitchFamily="34" charset="-122"/>
                  </a:rPr>
                  <a:t>异步处理与消息队列</a:t>
                </a:r>
                <a:endParaRPr lang="zh-CN" altLang="en-US" sz="1200" dirty="0">
                  <a:latin typeface="Times New Roman" panose="0202050305040509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90" name="矩形: 圆角 89"/>
              <p:cNvSpPr/>
              <p:nvPr/>
            </p:nvSpPr>
            <p:spPr>
              <a:xfrm>
                <a:off x="662464" y="3614833"/>
                <a:ext cx="1089661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US" altLang="zh-CN" sz="1200" dirty="0">
                    <a:latin typeface="Times New Roman" panose="02020503050405090304" pitchFamily="18" charset="0"/>
                    <a:ea typeface="微软雅黑" panose="020B0503020204020204" pitchFamily="34" charset="-122"/>
                  </a:rPr>
                  <a:t>Web API </a:t>
                </a:r>
                <a:endParaRPr lang="zh-CN" altLang="en-US" sz="1200" dirty="0">
                  <a:latin typeface="Times New Roman" panose="0202050305040509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91" name="矩形: 圆角 90"/>
              <p:cNvSpPr/>
              <p:nvPr/>
            </p:nvSpPr>
            <p:spPr>
              <a:xfrm>
                <a:off x="662465" y="3967922"/>
                <a:ext cx="1946710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zh-CN" altLang="en-US" sz="1200" dirty="0">
                    <a:latin typeface="Times New Roman" panose="02020503050405090304" pitchFamily="18" charset="0"/>
                    <a:ea typeface="微软雅黑" panose="020B0503020204020204" pitchFamily="34" charset="-122"/>
                  </a:rPr>
                  <a:t>权限管理与用户角色控制</a:t>
                </a:r>
                <a:endParaRPr lang="zh-CN" altLang="en-US" sz="1200" dirty="0">
                  <a:latin typeface="Times New Roman" panose="0202050305040509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1" name="矩形: 圆角 140"/>
              <p:cNvSpPr/>
              <p:nvPr/>
            </p:nvSpPr>
            <p:spPr>
              <a:xfrm>
                <a:off x="3803649" y="3609655"/>
                <a:ext cx="1493180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zh-CN" altLang="en-US" sz="1200" dirty="0">
                    <a:latin typeface="Times New Roman" panose="02020503050405090304" pitchFamily="18" charset="0"/>
                    <a:ea typeface="微软雅黑" panose="020B0503020204020204" pitchFamily="34" charset="-122"/>
                  </a:rPr>
                  <a:t>数据库操作</a:t>
                </a:r>
                <a:endParaRPr lang="en-US" altLang="zh-CN" sz="1200" dirty="0">
                  <a:latin typeface="Times New Roman" panose="0202050305040509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2" name="矩形: 圆角 141"/>
              <p:cNvSpPr/>
              <p:nvPr/>
            </p:nvSpPr>
            <p:spPr>
              <a:xfrm>
                <a:off x="5403182" y="3609655"/>
                <a:ext cx="1427409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zh-CN" altLang="en-US" sz="1200" dirty="0">
                    <a:latin typeface="Times New Roman" panose="02020503050405090304" pitchFamily="18" charset="0"/>
                    <a:ea typeface="微软雅黑" panose="020B0503020204020204" pitchFamily="34" charset="-122"/>
                  </a:rPr>
                  <a:t>日志与监控</a:t>
                </a:r>
                <a:endParaRPr lang="en-US" altLang="zh-CN" sz="1200" dirty="0">
                  <a:latin typeface="Times New Roman" panose="0202050305040509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3" name="矩形: 圆角 142"/>
              <p:cNvSpPr/>
              <p:nvPr/>
            </p:nvSpPr>
            <p:spPr>
              <a:xfrm>
                <a:off x="3803650" y="3960945"/>
                <a:ext cx="3026942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zh-CN" altLang="en-US" sz="1200" dirty="0">
                    <a:latin typeface="Times New Roman" panose="02020503050405090304" pitchFamily="18" charset="0"/>
                    <a:ea typeface="微软雅黑" panose="020B0503020204020204" pitchFamily="34" charset="-122"/>
                  </a:rPr>
                  <a:t>文件上传与对象存储服务</a:t>
                </a:r>
                <a:endParaRPr lang="zh-CN" altLang="en-US" sz="1200" dirty="0">
                  <a:latin typeface="Times New Roman" panose="02020503050405090304" pitchFamily="18" charset="0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145" name="直接连接符 144"/>
              <p:cNvCxnSpPr/>
              <p:nvPr/>
            </p:nvCxnSpPr>
            <p:spPr>
              <a:xfrm>
                <a:off x="554041" y="2205102"/>
                <a:ext cx="6367176" cy="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6" name="矩形: 圆角 155"/>
              <p:cNvSpPr/>
              <p:nvPr/>
            </p:nvSpPr>
            <p:spPr>
              <a:xfrm>
                <a:off x="662464" y="3202485"/>
                <a:ext cx="1335554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zh-CN" altLang="en-US" sz="1200" dirty="0">
                    <a:latin typeface="Times New Roman" panose="02020503050405090304" pitchFamily="18" charset="0"/>
                    <a:ea typeface="微软雅黑" panose="020B0503020204020204" pitchFamily="34" charset="-122"/>
                  </a:rPr>
                  <a:t>前端交互层</a:t>
                </a:r>
                <a:endParaRPr lang="zh-CN" altLang="en-US" sz="1200" dirty="0">
                  <a:latin typeface="Times New Roman" panose="0202050305040509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7" name="矩形: 圆角 156"/>
              <p:cNvSpPr/>
              <p:nvPr/>
            </p:nvSpPr>
            <p:spPr>
              <a:xfrm>
                <a:off x="2273322" y="3202485"/>
                <a:ext cx="1335554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zh-CN" altLang="en-US" sz="1200" dirty="0">
                    <a:latin typeface="Times New Roman" panose="02020503050405090304" pitchFamily="18" charset="0"/>
                    <a:ea typeface="微软雅黑" panose="020B0503020204020204" pitchFamily="34" charset="-122"/>
                  </a:rPr>
                  <a:t>业务逻辑层</a:t>
                </a:r>
                <a:endParaRPr lang="zh-CN" altLang="en-US" sz="1200" dirty="0">
                  <a:latin typeface="Times New Roman" panose="0202050305040509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8" name="矩形: 圆角 157"/>
              <p:cNvSpPr/>
              <p:nvPr/>
            </p:nvSpPr>
            <p:spPr>
              <a:xfrm>
                <a:off x="3884180" y="3202485"/>
                <a:ext cx="1335554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zh-CN" altLang="en-US" sz="1200" dirty="0">
                    <a:latin typeface="Times New Roman" panose="02020503050405090304" pitchFamily="18" charset="0"/>
                    <a:ea typeface="微软雅黑" panose="020B0503020204020204" pitchFamily="34" charset="-122"/>
                  </a:rPr>
                  <a:t>数据访问层</a:t>
                </a:r>
                <a:endParaRPr lang="zh-CN" altLang="en-US" sz="1200" dirty="0">
                  <a:latin typeface="Times New Roman" panose="0202050305040509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9" name="矩形: 圆角 158"/>
              <p:cNvSpPr/>
              <p:nvPr/>
            </p:nvSpPr>
            <p:spPr>
              <a:xfrm>
                <a:off x="5495037" y="3202200"/>
                <a:ext cx="1335554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zh-CN" altLang="en-US" sz="1200" dirty="0">
                    <a:latin typeface="Times New Roman" panose="02020503050405090304" pitchFamily="18" charset="0"/>
                    <a:ea typeface="微软雅黑" panose="020B0503020204020204" pitchFamily="34" charset="-122"/>
                  </a:rPr>
                  <a:t>实体层</a:t>
                </a:r>
                <a:endParaRPr lang="zh-CN" altLang="en-US" sz="1200" dirty="0">
                  <a:latin typeface="Times New Roman" panose="02020503050405090304" pitchFamily="18" charset="0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164" name="直接连接符 163"/>
              <p:cNvCxnSpPr/>
              <p:nvPr/>
            </p:nvCxnSpPr>
            <p:spPr>
              <a:xfrm>
                <a:off x="554041" y="3529578"/>
                <a:ext cx="6367176" cy="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5" name="直接连接符 244"/>
              <p:cNvCxnSpPr/>
              <p:nvPr/>
            </p:nvCxnSpPr>
            <p:spPr>
              <a:xfrm>
                <a:off x="554041" y="4322112"/>
                <a:ext cx="6367176" cy="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5" name="组合 234"/>
            <p:cNvGrpSpPr/>
            <p:nvPr/>
          </p:nvGrpSpPr>
          <p:grpSpPr>
            <a:xfrm>
              <a:off x="541509" y="5232400"/>
              <a:ext cx="6367176" cy="1644175"/>
              <a:chOff x="541509" y="5626100"/>
              <a:chExt cx="6367176" cy="1644175"/>
            </a:xfrm>
          </p:grpSpPr>
          <p:sp>
            <p:nvSpPr>
              <p:cNvPr id="53" name="矩形: 圆角 52"/>
              <p:cNvSpPr/>
              <p:nvPr/>
            </p:nvSpPr>
            <p:spPr>
              <a:xfrm>
                <a:off x="545199" y="5626100"/>
                <a:ext cx="6363485" cy="1644175"/>
              </a:xfrm>
              <a:prstGeom prst="roundRect">
                <a:avLst>
                  <a:gd name="adj" fmla="val 4248"/>
                </a:avLst>
              </a:prstGeom>
              <a:solidFill>
                <a:srgbClr val="F5D2B9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endParaRPr lang="zh-CN" altLang="en-US" sz="1000" dirty="0">
                  <a:latin typeface="Times New Roman" panose="0202050305040509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8" name="矩形: 圆角 117"/>
              <p:cNvSpPr/>
              <p:nvPr/>
            </p:nvSpPr>
            <p:spPr>
              <a:xfrm>
                <a:off x="649935" y="6549930"/>
                <a:ext cx="721834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US" altLang="zh-CN" sz="1200" dirty="0">
                    <a:latin typeface="Times New Roman" panose="02020503050405090304" pitchFamily="18" charset="0"/>
                    <a:ea typeface="微软雅黑" panose="020B0503020204020204" pitchFamily="34" charset="-122"/>
                  </a:rPr>
                  <a:t>Python</a:t>
                </a:r>
                <a:endParaRPr lang="zh-CN" altLang="en-US" sz="1200" dirty="0">
                  <a:latin typeface="Times New Roman" panose="0202050305040509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0" name="矩形: 圆角 119"/>
              <p:cNvSpPr/>
              <p:nvPr/>
            </p:nvSpPr>
            <p:spPr>
              <a:xfrm>
                <a:off x="650094" y="6892925"/>
                <a:ext cx="1746250" cy="257810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US" altLang="zh-CN" sz="1200" dirty="0">
                    <a:latin typeface="Times New Roman" panose="02020503050405090304" pitchFamily="18" charset="0"/>
                    <a:ea typeface="微软雅黑" panose="020B0503020204020204" pitchFamily="34" charset="-122"/>
                  </a:rPr>
                  <a:t>Pandas</a:t>
                </a:r>
                <a:endParaRPr lang="zh-CN" altLang="en-US" sz="1200" dirty="0">
                  <a:latin typeface="Times New Roman" panose="0202050305040509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3" name="矩形: 圆角 122"/>
              <p:cNvSpPr/>
              <p:nvPr/>
            </p:nvSpPr>
            <p:spPr>
              <a:xfrm>
                <a:off x="4842364" y="6883400"/>
                <a:ext cx="1946910" cy="257810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US" altLang="zh-CN" sz="1200" dirty="0">
                    <a:latin typeface="Times New Roman" panose="02020503050405090304" pitchFamily="18" charset="0"/>
                    <a:ea typeface="微软雅黑" panose="020B0503020204020204" pitchFamily="34" charset="-122"/>
                  </a:rPr>
                  <a:t>Qwen-VL</a:t>
                </a:r>
                <a:endParaRPr lang="en-US" altLang="zh-CN" sz="1200" dirty="0">
                  <a:latin typeface="Times New Roman" panose="0202050305040509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4" name="矩形: 圆角 123"/>
              <p:cNvSpPr/>
              <p:nvPr/>
            </p:nvSpPr>
            <p:spPr>
              <a:xfrm>
                <a:off x="3766359" y="6888593"/>
                <a:ext cx="902643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US" altLang="zh-CN" sz="1200">
                    <a:latin typeface="Times New Roman" panose="02020503050405090304" pitchFamily="18" charset="0"/>
                    <a:ea typeface="微软雅黑" panose="020B0503020204020204" pitchFamily="34" charset="-122"/>
                  </a:rPr>
                  <a:t>NumPy</a:t>
                </a:r>
                <a:endParaRPr lang="zh-CN" altLang="en-US" sz="1200" dirty="0">
                  <a:latin typeface="Times New Roman" panose="0202050305040509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6" name="矩形: 圆角 125"/>
              <p:cNvSpPr/>
              <p:nvPr/>
            </p:nvSpPr>
            <p:spPr>
              <a:xfrm>
                <a:off x="2485156" y="6893188"/>
                <a:ext cx="1195547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US" altLang="zh-CN" sz="1200" dirty="0">
                    <a:latin typeface="Times New Roman" panose="02020503050405090304" pitchFamily="18" charset="0"/>
                    <a:ea typeface="微软雅黑" panose="020B0503020204020204" pitchFamily="34" charset="-122"/>
                  </a:rPr>
                  <a:t>Transformers</a:t>
                </a:r>
                <a:endParaRPr lang="zh-CN" altLang="en-US" sz="1200" dirty="0">
                  <a:latin typeface="Times New Roman" panose="0202050305040509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7" name="矩形: 圆角 126"/>
              <p:cNvSpPr/>
              <p:nvPr/>
            </p:nvSpPr>
            <p:spPr>
              <a:xfrm>
                <a:off x="5857729" y="6550025"/>
                <a:ext cx="931545" cy="257810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US" altLang="zh-CN" sz="1200" dirty="0">
                    <a:latin typeface="Times New Roman" panose="02020503050405090304" pitchFamily="18" charset="0"/>
                    <a:ea typeface="微软雅黑" panose="020B0503020204020204" pitchFamily="34" charset="-122"/>
                  </a:rPr>
                  <a:t>Scikit-learn</a:t>
                </a:r>
                <a:endParaRPr lang="en-US" altLang="zh-CN" sz="1200" dirty="0">
                  <a:latin typeface="Times New Roman" panose="0202050305040509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8" name="矩形: 圆角 127"/>
              <p:cNvSpPr/>
              <p:nvPr/>
            </p:nvSpPr>
            <p:spPr>
              <a:xfrm>
                <a:off x="1476229" y="6550025"/>
                <a:ext cx="2213610" cy="257810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US" altLang="zh-CN" sz="1200" dirty="0" err="1">
                    <a:latin typeface="Times New Roman" panose="02020503050405090304" pitchFamily="18" charset="0"/>
                    <a:ea typeface="微软雅黑" panose="020B0503020204020204" pitchFamily="34" charset="-122"/>
                  </a:rPr>
                  <a:t>PyTorch</a:t>
                </a:r>
                <a:endParaRPr lang="zh-CN" altLang="en-US" sz="1200" dirty="0">
                  <a:latin typeface="Times New Roman" panose="0202050305040509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1" name="矩形: 圆角 130"/>
              <p:cNvSpPr/>
              <p:nvPr/>
            </p:nvSpPr>
            <p:spPr>
              <a:xfrm>
                <a:off x="3441393" y="5731961"/>
                <a:ext cx="1493181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zh-CN" altLang="en-US" sz="1200" dirty="0">
                    <a:latin typeface="Times New Roman" panose="02020503050405090304" pitchFamily="18" charset="0"/>
                    <a:ea typeface="微软雅黑" panose="020B0503020204020204" pitchFamily="34" charset="-122"/>
                  </a:rPr>
                  <a:t>多模态大模型</a:t>
                </a:r>
                <a:r>
                  <a:rPr lang="en-US" altLang="zh-CN" sz="1200" dirty="0">
                    <a:latin typeface="Times New Roman" panose="02020503050405090304" pitchFamily="18" charset="0"/>
                    <a:ea typeface="微软雅黑" panose="020B0503020204020204" pitchFamily="34" charset="-122"/>
                  </a:rPr>
                  <a:t>API</a:t>
                </a:r>
                <a:endParaRPr lang="en-US" altLang="zh-CN" sz="1200" dirty="0">
                  <a:latin typeface="Times New Roman" panose="0202050305040509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2" name="矩形: 圆角 131"/>
              <p:cNvSpPr/>
              <p:nvPr/>
            </p:nvSpPr>
            <p:spPr>
              <a:xfrm>
                <a:off x="1845946" y="5724985"/>
                <a:ext cx="1493180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zh-CN" altLang="en-US" sz="1200" dirty="0">
                    <a:latin typeface="Times New Roman" panose="02020503050405090304" pitchFamily="18" charset="0"/>
                    <a:ea typeface="微软雅黑" panose="020B0503020204020204" pitchFamily="34" charset="-122"/>
                  </a:rPr>
                  <a:t>提示词</a:t>
                </a:r>
                <a:r>
                  <a:rPr lang="zh-CN" altLang="en-US" sz="1200" dirty="0">
                    <a:latin typeface="Times New Roman" panose="02020503050405090304" pitchFamily="18" charset="0"/>
                    <a:ea typeface="微软雅黑" panose="020B0503020204020204" pitchFamily="34" charset="-122"/>
                  </a:rPr>
                  <a:t>工程</a:t>
                </a:r>
                <a:endParaRPr lang="zh-CN" altLang="en-US" sz="1200" dirty="0">
                  <a:latin typeface="Times New Roman" panose="0202050305040509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3" name="矩形: 圆角 132"/>
              <p:cNvSpPr/>
              <p:nvPr/>
            </p:nvSpPr>
            <p:spPr>
              <a:xfrm>
                <a:off x="649932" y="5730163"/>
                <a:ext cx="1089661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zh-CN" altLang="en-US" sz="1200" dirty="0">
                    <a:latin typeface="Times New Roman" panose="02020503050405090304" pitchFamily="18" charset="0"/>
                    <a:ea typeface="微软雅黑" panose="020B0503020204020204" pitchFamily="34" charset="-122"/>
                  </a:rPr>
                  <a:t>数据处理</a:t>
                </a:r>
                <a:endParaRPr lang="zh-CN" altLang="en-US" sz="1200" dirty="0">
                  <a:latin typeface="Times New Roman" panose="0202050305040509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4" name="矩形: 圆角 133"/>
              <p:cNvSpPr/>
              <p:nvPr/>
            </p:nvSpPr>
            <p:spPr>
              <a:xfrm>
                <a:off x="649933" y="6083252"/>
                <a:ext cx="1089660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zh-CN" altLang="en-US" sz="1200" dirty="0">
                    <a:latin typeface="Times New Roman" panose="02020503050405090304" pitchFamily="18" charset="0"/>
                    <a:ea typeface="微软雅黑" panose="020B0503020204020204" pitchFamily="34" charset="-122"/>
                  </a:rPr>
                  <a:t>向量</a:t>
                </a:r>
                <a:r>
                  <a:rPr lang="zh-CN" altLang="en-US" sz="1200" dirty="0">
                    <a:latin typeface="Times New Roman" panose="02020503050405090304" pitchFamily="18" charset="0"/>
                    <a:ea typeface="微软雅黑" panose="020B0503020204020204" pitchFamily="34" charset="-122"/>
                  </a:rPr>
                  <a:t>检索</a:t>
                </a:r>
                <a:endParaRPr lang="zh-CN" altLang="en-US" sz="1200" dirty="0">
                  <a:latin typeface="Times New Roman" panose="0202050305040509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5" name="矩形: 圆角 134"/>
              <p:cNvSpPr/>
              <p:nvPr/>
            </p:nvSpPr>
            <p:spPr>
              <a:xfrm>
                <a:off x="1842665" y="6083251"/>
                <a:ext cx="1493180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zh-CN" altLang="en-US" sz="1200" dirty="0">
                    <a:latin typeface="Times New Roman" panose="02020503050405090304" pitchFamily="18" charset="0"/>
                    <a:ea typeface="微软雅黑" panose="020B0503020204020204" pitchFamily="34" charset="-122"/>
                  </a:rPr>
                  <a:t>模型服务</a:t>
                </a:r>
                <a:endParaRPr lang="zh-CN" altLang="en-US" sz="1200" dirty="0">
                  <a:latin typeface="Times New Roman" panose="0202050305040509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6" name="矩形: 圆角 135"/>
              <p:cNvSpPr/>
              <p:nvPr/>
            </p:nvSpPr>
            <p:spPr>
              <a:xfrm>
                <a:off x="5036841" y="5731961"/>
                <a:ext cx="1768269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zh-CN" altLang="en-US" sz="1200" dirty="0">
                    <a:latin typeface="Times New Roman" panose="02020503050405090304" pitchFamily="18" charset="0"/>
                    <a:ea typeface="微软雅黑" panose="020B0503020204020204" pitchFamily="34" charset="-122"/>
                  </a:rPr>
                  <a:t>算法服务</a:t>
                </a:r>
                <a:r>
                  <a:rPr lang="en-US" altLang="zh-CN" sz="1200" dirty="0">
                    <a:latin typeface="Times New Roman" panose="02020503050405090304" pitchFamily="18" charset="0"/>
                    <a:ea typeface="微软雅黑" panose="020B0503020204020204" pitchFamily="34" charset="-122"/>
                  </a:rPr>
                  <a:t>API</a:t>
                </a:r>
                <a:r>
                  <a:rPr lang="zh-CN" altLang="en-US" sz="1200" dirty="0">
                    <a:latin typeface="Times New Roman" panose="02020503050405090304" pitchFamily="18" charset="0"/>
                    <a:ea typeface="微软雅黑" panose="020B0503020204020204" pitchFamily="34" charset="-122"/>
                  </a:rPr>
                  <a:t>接口</a:t>
                </a:r>
                <a:endParaRPr lang="en-US" altLang="zh-CN" sz="1200" dirty="0">
                  <a:latin typeface="Times New Roman" panose="0202050305040509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7" name="矩形: 圆角 136"/>
              <p:cNvSpPr/>
              <p:nvPr/>
            </p:nvSpPr>
            <p:spPr>
              <a:xfrm>
                <a:off x="3438916" y="6083251"/>
                <a:ext cx="1493180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zh-CN" altLang="en-US" sz="1200" dirty="0">
                    <a:latin typeface="Times New Roman" panose="02020503050405090304" pitchFamily="18" charset="0"/>
                    <a:ea typeface="微软雅黑" panose="020B0503020204020204" pitchFamily="34" charset="-122"/>
                  </a:rPr>
                  <a:t>深度学习</a:t>
                </a:r>
                <a:endParaRPr lang="zh-CN" altLang="en-US" sz="1200" dirty="0">
                  <a:latin typeface="Times New Roman" panose="0202050305040509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9" name="矩形: 圆角 148"/>
              <p:cNvSpPr/>
              <p:nvPr/>
            </p:nvSpPr>
            <p:spPr>
              <a:xfrm>
                <a:off x="5035167" y="6083251"/>
                <a:ext cx="1768268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zh-CN" altLang="en-US" sz="1200" dirty="0">
                    <a:latin typeface="Times New Roman" panose="02020503050405090304" pitchFamily="18" charset="0"/>
                    <a:ea typeface="微软雅黑" panose="020B0503020204020204" pitchFamily="34" charset="-122"/>
                  </a:rPr>
                  <a:t>检索增强</a:t>
                </a:r>
                <a:r>
                  <a:rPr lang="zh-CN" altLang="en-US" sz="1200" dirty="0">
                    <a:latin typeface="Times New Roman" panose="02020503050405090304" pitchFamily="18" charset="0"/>
                    <a:ea typeface="微软雅黑" panose="020B0503020204020204" pitchFamily="34" charset="-122"/>
                  </a:rPr>
                  <a:t>生成</a:t>
                </a:r>
                <a:endParaRPr lang="zh-CN" altLang="en-US" sz="1200" dirty="0">
                  <a:latin typeface="Times New Roman" panose="02020503050405090304" pitchFamily="18" charset="0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150" name="直接连接符 149"/>
              <p:cNvCxnSpPr/>
              <p:nvPr/>
            </p:nvCxnSpPr>
            <p:spPr>
              <a:xfrm>
                <a:off x="541509" y="6438117"/>
                <a:ext cx="6367176" cy="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6" name="矩形: 圆角 235"/>
            <p:cNvSpPr/>
            <p:nvPr/>
          </p:nvSpPr>
          <p:spPr>
            <a:xfrm>
              <a:off x="7065022" y="1355257"/>
              <a:ext cx="1492238" cy="5502743"/>
            </a:xfrm>
            <a:prstGeom prst="roundRect">
              <a:avLst>
                <a:gd name="adj" fmla="val 3901"/>
              </a:avLst>
            </a:prstGeom>
            <a:solidFill>
              <a:srgbClr val="FFC3C7"/>
            </a:solidFill>
            <a:ln>
              <a:noFill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 anchorCtr="0"/>
            <a:lstStyle/>
            <a:p>
              <a:pPr algn="ctr"/>
              <a:endParaRPr lang="zh-CN" altLang="en-US" sz="1000" dirty="0">
                <a:latin typeface="Times New Roman" panose="0202050305040509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237" name="文本框 236"/>
            <p:cNvSpPr txBox="1"/>
            <p:nvPr/>
          </p:nvSpPr>
          <p:spPr>
            <a:xfrm>
              <a:off x="7196027" y="1446096"/>
              <a:ext cx="1212382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200" b="1" dirty="0">
                  <a:latin typeface="Times New Roman" panose="02020503050405090304" pitchFamily="18" charset="0"/>
                  <a:ea typeface="微软雅黑" panose="020B0503020204020204" pitchFamily="34" charset="-122"/>
                </a:rPr>
                <a:t>通信协议</a:t>
              </a:r>
              <a:endParaRPr lang="zh-CN" altLang="en-US" sz="1200" b="1" dirty="0">
                <a:latin typeface="Times New Roman" panose="0202050305040509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238" name="矩形: 圆角 237"/>
            <p:cNvSpPr/>
            <p:nvPr/>
          </p:nvSpPr>
          <p:spPr>
            <a:xfrm>
              <a:off x="7176603" y="1755102"/>
              <a:ext cx="1212382" cy="262656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 anchorCtr="0"/>
            <a:lstStyle/>
            <a:p>
              <a:pPr algn="ctr"/>
              <a:r>
                <a:rPr lang="en-US" altLang="zh-CN" sz="1200" dirty="0">
                  <a:latin typeface="Times New Roman" panose="02020503050405090304" pitchFamily="18" charset="0"/>
                  <a:ea typeface="微软雅黑" panose="020B0503020204020204" pitchFamily="34" charset="-122"/>
                </a:rPr>
                <a:t>HTTP/HTTPS</a:t>
              </a:r>
              <a:endParaRPr lang="en-US" altLang="zh-CN" sz="1200" dirty="0">
                <a:latin typeface="Times New Roman" panose="0202050305040509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241" name="文本框 240"/>
            <p:cNvSpPr txBox="1"/>
            <p:nvPr/>
          </p:nvSpPr>
          <p:spPr>
            <a:xfrm>
              <a:off x="7196027" y="2900225"/>
              <a:ext cx="1212382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200" b="1" dirty="0">
                  <a:latin typeface="Times New Roman" panose="02020503050405090304" pitchFamily="18" charset="0"/>
                  <a:ea typeface="微软雅黑" panose="020B0503020204020204" pitchFamily="34" charset="-122"/>
                </a:rPr>
                <a:t>数据协议</a:t>
              </a:r>
              <a:endParaRPr lang="zh-CN" altLang="en-US" sz="1200" b="1" dirty="0">
                <a:latin typeface="Times New Roman" panose="0202050305040509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242" name="矩形: 圆角 241"/>
            <p:cNvSpPr/>
            <p:nvPr/>
          </p:nvSpPr>
          <p:spPr>
            <a:xfrm>
              <a:off x="7176603" y="3181323"/>
              <a:ext cx="1212382" cy="262656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 anchorCtr="0"/>
            <a:lstStyle/>
            <a:p>
              <a:pPr algn="ctr"/>
              <a:r>
                <a:rPr lang="en-US" altLang="zh-CN" sz="1200" dirty="0">
                  <a:latin typeface="Times New Roman" panose="02020503050405090304" pitchFamily="18" charset="0"/>
                  <a:ea typeface="微软雅黑" panose="020B0503020204020204" pitchFamily="34" charset="-122"/>
                </a:rPr>
                <a:t>JSON</a:t>
              </a:r>
              <a:endParaRPr lang="en-US" altLang="zh-CN" sz="1200" dirty="0">
                <a:latin typeface="Times New Roman" panose="0202050305040509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246" name="文本框 245"/>
            <p:cNvSpPr txBox="1"/>
            <p:nvPr/>
          </p:nvSpPr>
          <p:spPr>
            <a:xfrm>
              <a:off x="-711860" y="7415904"/>
              <a:ext cx="121238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00" b="1" dirty="0">
                  <a:latin typeface="Times New Roman" panose="02020503050405090304" pitchFamily="18" charset="0"/>
                  <a:ea typeface="微软雅黑" panose="020B0503020204020204" pitchFamily="34" charset="-122"/>
                </a:rPr>
                <a:t>支撑层</a:t>
              </a:r>
              <a:endParaRPr lang="zh-CN" altLang="en-US" sz="1400" b="1" dirty="0">
                <a:latin typeface="Times New Roman" panose="0202050305040509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247" name="文本框 246"/>
            <p:cNvSpPr txBox="1"/>
            <p:nvPr/>
          </p:nvSpPr>
          <p:spPr>
            <a:xfrm>
              <a:off x="-711860" y="5864403"/>
              <a:ext cx="121238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00" b="1" dirty="0">
                  <a:latin typeface="Times New Roman" panose="02020503050405090304" pitchFamily="18" charset="0"/>
                  <a:ea typeface="微软雅黑" panose="020B0503020204020204" pitchFamily="34" charset="-122"/>
                </a:rPr>
                <a:t>算法层</a:t>
              </a:r>
              <a:endParaRPr lang="zh-CN" altLang="en-US" sz="1400" b="1" dirty="0">
                <a:latin typeface="Times New Roman" panose="0202050305040509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248" name="矩形: 圆角 247"/>
            <p:cNvSpPr/>
            <p:nvPr/>
          </p:nvSpPr>
          <p:spPr>
            <a:xfrm>
              <a:off x="554042" y="6977802"/>
              <a:ext cx="3843958" cy="1114100"/>
            </a:xfrm>
            <a:prstGeom prst="roundRect">
              <a:avLst>
                <a:gd name="adj" fmla="val 3924"/>
              </a:avLst>
            </a:prstGeom>
            <a:solidFill>
              <a:srgbClr val="BADDF5"/>
            </a:solidFill>
            <a:ln>
              <a:noFill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 anchorCtr="0"/>
            <a:lstStyle/>
            <a:p>
              <a:pPr algn="ctr"/>
              <a:endParaRPr lang="zh-CN" altLang="en-US" sz="1000" dirty="0">
                <a:latin typeface="Times New Roman" panose="0202050305040509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249" name="矩形: 圆角 248"/>
            <p:cNvSpPr/>
            <p:nvPr/>
          </p:nvSpPr>
          <p:spPr>
            <a:xfrm>
              <a:off x="664139" y="7062167"/>
              <a:ext cx="568861" cy="891945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b" anchorCtr="1"/>
            <a:lstStyle/>
            <a:p>
              <a:pPr algn="ctr"/>
              <a:r>
                <a:rPr lang="zh-CN" altLang="en-US" sz="1200" dirty="0">
                  <a:latin typeface="Times New Roman" panose="02020503050405090304" pitchFamily="18" charset="0"/>
                  <a:ea typeface="微软雅黑" panose="020B0503020204020204" pitchFamily="34" charset="-122"/>
                </a:rPr>
                <a:t>数据存储</a:t>
              </a:r>
              <a:endParaRPr lang="zh-CN" altLang="en-US" sz="1200" dirty="0">
                <a:latin typeface="Times New Roman" panose="0202050305040509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250" name="矩形: 圆角 249"/>
            <p:cNvSpPr/>
            <p:nvPr/>
          </p:nvSpPr>
          <p:spPr>
            <a:xfrm>
              <a:off x="1331706" y="7056229"/>
              <a:ext cx="1378158" cy="258061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 anchorCtr="0"/>
            <a:lstStyle/>
            <a:p>
              <a:pPr algn="ctr"/>
              <a:r>
                <a:rPr lang="zh-CN" altLang="en-US" sz="1200" dirty="0">
                  <a:latin typeface="Times New Roman" panose="02020503050405090304" pitchFamily="18" charset="0"/>
                  <a:ea typeface="微软雅黑" panose="020B0503020204020204" pitchFamily="34" charset="-122"/>
                </a:rPr>
                <a:t>关系型数据库</a:t>
              </a:r>
              <a:endParaRPr lang="zh-CN" altLang="en-US" sz="1200" dirty="0">
                <a:latin typeface="Times New Roman" panose="0202050305040509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252" name="矩形: 圆角 251"/>
            <p:cNvSpPr/>
            <p:nvPr/>
          </p:nvSpPr>
          <p:spPr>
            <a:xfrm>
              <a:off x="1331706" y="7699300"/>
              <a:ext cx="1363490" cy="258061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 anchorCtr="0"/>
            <a:lstStyle/>
            <a:p>
              <a:pPr algn="ctr"/>
              <a:r>
                <a:rPr lang="zh-CN" altLang="en-US" sz="1200" dirty="0">
                  <a:latin typeface="Times New Roman" panose="02020503050405090304" pitchFamily="18" charset="0"/>
                  <a:ea typeface="微软雅黑" panose="020B0503020204020204" pitchFamily="34" charset="-122"/>
                </a:rPr>
                <a:t>文件数据库</a:t>
              </a:r>
              <a:endParaRPr lang="zh-CN" altLang="en-US" sz="1200" dirty="0">
                <a:latin typeface="Times New Roman" panose="0202050305040509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253" name="矩形: 圆角 252"/>
            <p:cNvSpPr/>
            <p:nvPr/>
          </p:nvSpPr>
          <p:spPr>
            <a:xfrm>
              <a:off x="2881277" y="7056229"/>
              <a:ext cx="1378158" cy="258061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 anchorCtr="0"/>
            <a:lstStyle/>
            <a:p>
              <a:pPr algn="ctr"/>
              <a:r>
                <a:rPr lang="en-US" altLang="zh-CN" sz="1200" dirty="0">
                  <a:latin typeface="Times New Roman" panose="02020503050405090304" pitchFamily="18" charset="0"/>
                  <a:ea typeface="微软雅黑" panose="020B0503020204020204" pitchFamily="34" charset="-122"/>
                </a:rPr>
                <a:t>S</a:t>
              </a:r>
              <a:r>
                <a:rPr lang="en-US" altLang="zh-CN" sz="1200" dirty="0">
                  <a:latin typeface="Times New Roman" panose="02020503050405090304" pitchFamily="18" charset="0"/>
                  <a:ea typeface="微软雅黑" panose="020B0503020204020204" pitchFamily="34" charset="-122"/>
                </a:rPr>
                <a:t>QLite</a:t>
              </a:r>
              <a:endParaRPr lang="zh-CN" altLang="en-US" sz="1200" dirty="0">
                <a:latin typeface="Times New Roman" panose="0202050305040509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255" name="矩形: 圆角 254"/>
            <p:cNvSpPr/>
            <p:nvPr/>
          </p:nvSpPr>
          <p:spPr>
            <a:xfrm>
              <a:off x="2881277" y="7698917"/>
              <a:ext cx="1363490" cy="258061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 anchorCtr="0"/>
            <a:lstStyle/>
            <a:p>
              <a:pPr algn="ctr"/>
              <a:r>
                <a:rPr lang="zh-CN" altLang="en-US" sz="1200" dirty="0">
                  <a:latin typeface="Times New Roman" panose="02020503050405090304" pitchFamily="18" charset="0"/>
                  <a:ea typeface="微软雅黑" panose="020B0503020204020204" pitchFamily="34" charset="-122"/>
                </a:rPr>
                <a:t>系统文件</a:t>
              </a:r>
              <a:endParaRPr lang="zh-CN" altLang="en-US" sz="1200" dirty="0">
                <a:latin typeface="Times New Roman" panose="02020503050405090304" pitchFamily="18" charset="0"/>
                <a:ea typeface="微软雅黑" panose="020B0503020204020204" pitchFamily="34" charset="-122"/>
              </a:endParaRPr>
            </a:p>
          </p:txBody>
        </p:sp>
        <p:cxnSp>
          <p:nvCxnSpPr>
            <p:cNvPr id="256" name="直接连接符 255"/>
            <p:cNvCxnSpPr/>
            <p:nvPr/>
          </p:nvCxnSpPr>
          <p:spPr>
            <a:xfrm>
              <a:off x="2793902" y="7064316"/>
              <a:ext cx="0" cy="904711"/>
            </a:xfrm>
            <a:prstGeom prst="line">
              <a:avLst/>
            </a:prstGeom>
            <a:ln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7" name="矩形: 圆角 256"/>
            <p:cNvSpPr/>
            <p:nvPr/>
          </p:nvSpPr>
          <p:spPr>
            <a:xfrm>
              <a:off x="4509063" y="6977802"/>
              <a:ext cx="1713201" cy="1114100"/>
            </a:xfrm>
            <a:prstGeom prst="roundRect">
              <a:avLst>
                <a:gd name="adj" fmla="val 3924"/>
              </a:avLst>
            </a:prstGeom>
            <a:solidFill>
              <a:srgbClr val="D4C5F6"/>
            </a:solidFill>
            <a:ln>
              <a:noFill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 anchorCtr="0"/>
            <a:lstStyle/>
            <a:p>
              <a:pPr algn="ctr"/>
              <a:endParaRPr lang="zh-CN" altLang="en-US" sz="1000" dirty="0">
                <a:latin typeface="Times New Roman" panose="0202050305040509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258" name="矩形: 圆角 257"/>
            <p:cNvSpPr/>
            <p:nvPr/>
          </p:nvSpPr>
          <p:spPr>
            <a:xfrm>
              <a:off x="4619161" y="7062167"/>
              <a:ext cx="556503" cy="891945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b" anchorCtr="1"/>
            <a:lstStyle/>
            <a:p>
              <a:pPr algn="ctr"/>
              <a:r>
                <a:rPr lang="zh-CN" altLang="en-US" sz="1200" dirty="0">
                  <a:latin typeface="Times New Roman" panose="02020503050405090304" pitchFamily="18" charset="0"/>
                  <a:ea typeface="微软雅黑" panose="020B0503020204020204" pitchFamily="34" charset="-122"/>
                </a:rPr>
                <a:t>计算资源</a:t>
              </a:r>
              <a:endParaRPr lang="zh-CN" altLang="en-US" sz="1200" dirty="0">
                <a:latin typeface="Times New Roman" panose="0202050305040509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259" name="矩形: 圆角 258"/>
            <p:cNvSpPr/>
            <p:nvPr/>
          </p:nvSpPr>
          <p:spPr>
            <a:xfrm>
              <a:off x="5283879" y="7056229"/>
              <a:ext cx="821645" cy="373137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 anchorCtr="0"/>
            <a:lstStyle/>
            <a:p>
              <a:pPr algn="ctr"/>
              <a:r>
                <a:rPr lang="en-US" altLang="zh-CN" sz="1200" dirty="0">
                  <a:latin typeface="Times New Roman" panose="02020503050405090304" pitchFamily="18" charset="0"/>
                  <a:ea typeface="微软雅黑" panose="020B0503020204020204" pitchFamily="34" charset="-122"/>
                </a:rPr>
                <a:t>CPU</a:t>
              </a:r>
              <a:endParaRPr lang="zh-CN" altLang="en-US" sz="1200" dirty="0">
                <a:latin typeface="Times New Roman" panose="0202050305040509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260" name="矩形: 圆角 259"/>
            <p:cNvSpPr/>
            <p:nvPr/>
          </p:nvSpPr>
          <p:spPr>
            <a:xfrm>
              <a:off x="5283879" y="7579689"/>
              <a:ext cx="821645" cy="373137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 anchorCtr="0"/>
            <a:lstStyle/>
            <a:p>
              <a:pPr algn="ctr"/>
              <a:r>
                <a:rPr lang="en-US" altLang="zh-CN" sz="1200" dirty="0">
                  <a:latin typeface="Times New Roman" panose="02020503050405090304" pitchFamily="18" charset="0"/>
                  <a:ea typeface="微软雅黑" panose="020B0503020204020204" pitchFamily="34" charset="-122"/>
                </a:rPr>
                <a:t>GPU</a:t>
              </a:r>
              <a:endParaRPr lang="zh-CN" altLang="en-US" sz="1200" dirty="0">
                <a:latin typeface="Times New Roman" panose="02020503050405090304" pitchFamily="18" charset="0"/>
                <a:ea typeface="微软雅黑" panose="020B0503020204020204" pitchFamily="34" charset="-122"/>
              </a:endParaRPr>
            </a:p>
          </p:txBody>
        </p:sp>
        <p:pic>
          <p:nvPicPr>
            <p:cNvPr id="177" name="Picture 10" descr="https://gimg2.baidu.com/image_search/src=http%3A%2F%2Fhbimg.b0.upaiyun.com%2F95817b7ceef8aa1ba4fc2581b1db8e789fe281953a55-G5sXNm_fw658&amp;refer=http%3A%2F%2Fhbimg.b0.upaiyun.com&amp;app=2002&amp;size=f9999,10000&amp;q=a80&amp;n=0&amp;g=0n&amp;fmt=jpeg?sec=1641094457&amp;t=69f74e5006c240d2e784d20ce30c8be3"/>
            <p:cNvPicPr>
              <a:picLocks noChangeAspect="1" noChangeArrowheads="1"/>
            </p:cNvPicPr>
            <p:nvPr/>
          </p:nvPicPr>
          <p:blipFill>
            <a:blip r:embed="rId1" cstate="print">
              <a:clrChange>
                <a:clrFrom>
                  <a:srgbClr val="F6F6F6"/>
                </a:clrFrom>
                <a:clrTo>
                  <a:srgbClr val="F6F6F6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3988" y="7136860"/>
              <a:ext cx="354860" cy="3548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73" name="矩形: 圆角 272"/>
            <p:cNvSpPr/>
            <p:nvPr/>
          </p:nvSpPr>
          <p:spPr>
            <a:xfrm>
              <a:off x="6375498" y="6977802"/>
              <a:ext cx="2181761" cy="1114100"/>
            </a:xfrm>
            <a:prstGeom prst="roundRect">
              <a:avLst>
                <a:gd name="adj" fmla="val 3924"/>
              </a:avLst>
            </a:prstGeom>
            <a:solidFill>
              <a:srgbClr val="5290E2"/>
            </a:solidFill>
            <a:ln>
              <a:noFill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 anchorCtr="0"/>
            <a:lstStyle/>
            <a:p>
              <a:pPr algn="ctr"/>
              <a:endParaRPr lang="zh-CN" altLang="en-US" sz="1000" dirty="0">
                <a:latin typeface="Times New Roman" panose="0202050305040509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274" name="矩形: 圆角 273"/>
            <p:cNvSpPr/>
            <p:nvPr/>
          </p:nvSpPr>
          <p:spPr>
            <a:xfrm>
              <a:off x="6514237" y="7062167"/>
              <a:ext cx="556503" cy="891945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b" anchorCtr="1"/>
            <a:lstStyle/>
            <a:p>
              <a:pPr algn="ctr"/>
              <a:r>
                <a:rPr lang="zh-CN" altLang="en-US" sz="1200" dirty="0">
                  <a:latin typeface="Times New Roman" panose="02020503050405090304" pitchFamily="18" charset="0"/>
                  <a:ea typeface="微软雅黑" panose="020B0503020204020204" pitchFamily="34" charset="-122"/>
                </a:rPr>
                <a:t>操作系统</a:t>
              </a:r>
              <a:endParaRPr lang="zh-CN" altLang="en-US" sz="1200" dirty="0">
                <a:latin typeface="Times New Roman" panose="0202050305040509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275" name="矩形: 圆角 274"/>
            <p:cNvSpPr/>
            <p:nvPr/>
          </p:nvSpPr>
          <p:spPr>
            <a:xfrm>
              <a:off x="7178956" y="7056229"/>
              <a:ext cx="1253844" cy="373137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 anchorCtr="0"/>
            <a:lstStyle/>
            <a:p>
              <a:pPr algn="ctr"/>
              <a:r>
                <a:rPr lang="en-US" altLang="zh-CN" sz="1200" dirty="0">
                  <a:latin typeface="Times New Roman" panose="02020503050405090304" pitchFamily="18" charset="0"/>
                  <a:ea typeface="微软雅黑" panose="020B0503020204020204" pitchFamily="34" charset="-122"/>
                </a:rPr>
                <a:t>Windows</a:t>
              </a:r>
              <a:endParaRPr lang="zh-CN" altLang="en-US" sz="1200" dirty="0">
                <a:latin typeface="Times New Roman" panose="0202050305040509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276" name="矩形: 圆角 275"/>
            <p:cNvSpPr/>
            <p:nvPr/>
          </p:nvSpPr>
          <p:spPr>
            <a:xfrm>
              <a:off x="7178956" y="7579689"/>
              <a:ext cx="1253844" cy="373137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 anchorCtr="0"/>
            <a:lstStyle/>
            <a:p>
              <a:pPr algn="ctr"/>
              <a:r>
                <a:rPr lang="en-US" altLang="zh-CN" sz="1200" dirty="0">
                  <a:latin typeface="Times New Roman" panose="02020503050405090304" pitchFamily="18" charset="0"/>
                  <a:ea typeface="微软雅黑" panose="020B0503020204020204" pitchFamily="34" charset="-122"/>
                </a:rPr>
                <a:t>Linux</a:t>
              </a:r>
              <a:endParaRPr lang="zh-CN" altLang="en-US" sz="1200" dirty="0">
                <a:latin typeface="Times New Roman" panose="0202050305040509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277" name="文本框 276"/>
            <p:cNvSpPr txBox="1"/>
            <p:nvPr/>
          </p:nvSpPr>
          <p:spPr>
            <a:xfrm>
              <a:off x="7196027" y="5658714"/>
              <a:ext cx="1212382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200" b="1" dirty="0">
                  <a:latin typeface="Times New Roman" panose="02020503050405090304" pitchFamily="18" charset="0"/>
                  <a:ea typeface="微软雅黑" panose="020B0503020204020204" pitchFamily="34" charset="-122"/>
                </a:rPr>
                <a:t>文件传输协议</a:t>
              </a:r>
              <a:endParaRPr lang="zh-CN" altLang="en-US" sz="1200" b="1" dirty="0">
                <a:latin typeface="Times New Roman" panose="0202050305040509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278" name="矩形: 圆角 277"/>
            <p:cNvSpPr/>
            <p:nvPr/>
          </p:nvSpPr>
          <p:spPr>
            <a:xfrm>
              <a:off x="7176603" y="4597665"/>
              <a:ext cx="1212382" cy="262656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 anchorCtr="0"/>
            <a:lstStyle/>
            <a:p>
              <a:pPr algn="ctr"/>
              <a:r>
                <a:rPr lang="en-US" altLang="zh-CN" sz="1200" dirty="0">
                  <a:latin typeface="Times New Roman" panose="02020503050405090304" pitchFamily="18" charset="0"/>
                  <a:ea typeface="微软雅黑" panose="020B0503020204020204" pitchFamily="34" charset="-122"/>
                </a:rPr>
                <a:t>SSL/TLS</a:t>
              </a:r>
              <a:endParaRPr lang="en-US" altLang="zh-CN" sz="1200" dirty="0">
                <a:latin typeface="Times New Roman" panose="0202050305040509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279" name="矩形: 圆角 278"/>
            <p:cNvSpPr/>
            <p:nvPr/>
          </p:nvSpPr>
          <p:spPr>
            <a:xfrm>
              <a:off x="7176603" y="4912613"/>
              <a:ext cx="1212382" cy="262656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 anchorCtr="0"/>
            <a:lstStyle/>
            <a:p>
              <a:pPr algn="ctr"/>
              <a:r>
                <a:rPr lang="en-US" altLang="zh-CN" sz="1200" dirty="0">
                  <a:latin typeface="Times New Roman" panose="02020503050405090304" pitchFamily="18" charset="0"/>
                  <a:ea typeface="微软雅黑" panose="020B0503020204020204" pitchFamily="34" charset="-122"/>
                </a:rPr>
                <a:t>JWT</a:t>
              </a:r>
              <a:endParaRPr lang="en-US" altLang="zh-CN" sz="1200" dirty="0">
                <a:latin typeface="Times New Roman" panose="0202050305040509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280" name="矩形: 圆角 279"/>
            <p:cNvSpPr/>
            <p:nvPr/>
          </p:nvSpPr>
          <p:spPr>
            <a:xfrm>
              <a:off x="7176603" y="5227561"/>
              <a:ext cx="1212382" cy="262656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 anchorCtr="0"/>
            <a:lstStyle/>
            <a:p>
              <a:pPr algn="ctr"/>
              <a:r>
                <a:rPr lang="en-US" altLang="zh-CN" sz="1200" dirty="0">
                  <a:latin typeface="Times New Roman" panose="02020503050405090304" pitchFamily="18" charset="0"/>
                  <a:ea typeface="微软雅黑" panose="020B0503020204020204" pitchFamily="34" charset="-122"/>
                </a:rPr>
                <a:t>CORS</a:t>
              </a:r>
              <a:endParaRPr lang="en-US" altLang="zh-CN" sz="1200" dirty="0">
                <a:latin typeface="Times New Roman" panose="0202050305040509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281" name="文本框 280"/>
            <p:cNvSpPr txBox="1"/>
            <p:nvPr/>
          </p:nvSpPr>
          <p:spPr>
            <a:xfrm>
              <a:off x="7196027" y="4331683"/>
              <a:ext cx="1212382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200" b="1" dirty="0">
                  <a:latin typeface="Times New Roman" panose="02020503050405090304" pitchFamily="18" charset="0"/>
                  <a:ea typeface="微软雅黑" panose="020B0503020204020204" pitchFamily="34" charset="-122"/>
                </a:rPr>
                <a:t>安全协议</a:t>
              </a:r>
              <a:endParaRPr lang="zh-CN" altLang="en-US" sz="1200" b="1" dirty="0">
                <a:latin typeface="Times New Roman" panose="0202050305040509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282" name="矩形: 圆角 281"/>
            <p:cNvSpPr/>
            <p:nvPr/>
          </p:nvSpPr>
          <p:spPr>
            <a:xfrm>
              <a:off x="7176603" y="5963479"/>
              <a:ext cx="1212382" cy="262656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 anchorCtr="0"/>
            <a:lstStyle/>
            <a:p>
              <a:pPr algn="ctr"/>
              <a:r>
                <a:rPr lang="en-US" altLang="zh-CN" sz="1200" dirty="0">
                  <a:latin typeface="Times New Roman" panose="02020503050405090304" pitchFamily="18" charset="0"/>
                  <a:ea typeface="微软雅黑" panose="020B0503020204020204" pitchFamily="34" charset="-122"/>
                </a:rPr>
                <a:t>FTP</a:t>
              </a:r>
              <a:endParaRPr lang="en-US" altLang="zh-CN" sz="1200" dirty="0">
                <a:latin typeface="Times New Roman" panose="0202050305040509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283" name="矩形: 圆角 282"/>
            <p:cNvSpPr/>
            <p:nvPr/>
          </p:nvSpPr>
          <p:spPr>
            <a:xfrm>
              <a:off x="7176603" y="6278427"/>
              <a:ext cx="1212382" cy="262656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 anchorCtr="0"/>
            <a:lstStyle/>
            <a:p>
              <a:pPr algn="ctr"/>
              <a:r>
                <a:rPr lang="en-US" altLang="zh-CN" sz="1200" dirty="0">
                  <a:latin typeface="Times New Roman" panose="02020503050405090304" pitchFamily="18" charset="0"/>
                  <a:ea typeface="微软雅黑" panose="020B0503020204020204" pitchFamily="34" charset="-122"/>
                </a:rPr>
                <a:t>SFTP</a:t>
              </a:r>
              <a:endParaRPr lang="en-US" altLang="zh-CN" sz="1200" dirty="0">
                <a:latin typeface="Times New Roman" panose="02020503050405090304" pitchFamily="18" charset="0"/>
                <a:ea typeface="微软雅黑" panose="020B0503020204020204" pitchFamily="34" charset="-122"/>
              </a:endParaRPr>
            </a:p>
          </p:txBody>
        </p:sp>
        <p:pic>
          <p:nvPicPr>
            <p:cNvPr id="284" name="图片 283"/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08900" y="7135180"/>
              <a:ext cx="358219" cy="358219"/>
            </a:xfrm>
            <a:prstGeom prst="rect">
              <a:avLst/>
            </a:prstGeom>
          </p:spPr>
        </p:pic>
        <p:pic>
          <p:nvPicPr>
            <p:cNvPr id="286" name="图片 285"/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37460" y="7128057"/>
              <a:ext cx="348743" cy="348743"/>
            </a:xfrm>
            <a:prstGeom prst="rect">
              <a:avLst/>
            </a:prstGeom>
          </p:spPr>
        </p:pic>
      </p:grpSp>
      <p:sp>
        <p:nvSpPr>
          <p:cNvPr id="2" name="文本框 1"/>
          <p:cNvSpPr txBox="1"/>
          <p:nvPr/>
        </p:nvSpPr>
        <p:spPr>
          <a:xfrm>
            <a:off x="497282" y="123825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系统架构图</a:t>
            </a:r>
            <a:endParaRPr lang="zh-CN" altLang="en-US" dirty="0"/>
          </a:p>
        </p:txBody>
      </p:sp>
      <p:sp>
        <p:nvSpPr>
          <p:cNvPr id="3" name="矩形: 圆角 124"/>
          <p:cNvSpPr/>
          <p:nvPr/>
        </p:nvSpPr>
        <p:spPr>
          <a:xfrm>
            <a:off x="1061720" y="3576320"/>
            <a:ext cx="6166485" cy="25781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 anchorCtr="0"/>
          <a:p>
            <a:pPr algn="ctr"/>
            <a:r>
              <a:rPr lang="en-US" altLang="zh-CN" sz="1200" dirty="0">
                <a:latin typeface="Times New Roman" panose="02020503050405090304" pitchFamily="18" charset="0"/>
                <a:ea typeface="微软雅黑" panose="020B0503020204020204" pitchFamily="34" charset="-122"/>
              </a:rPr>
              <a:t>Flask</a:t>
            </a:r>
            <a:endParaRPr lang="zh-CN" altLang="en-US" sz="1200" dirty="0">
              <a:latin typeface="Times New Roman" panose="02020503050405090304" pitchFamily="18" charset="0"/>
              <a:ea typeface="微软雅黑" panose="020B0503020204020204" pitchFamily="34" charset="-122"/>
            </a:endParaRPr>
          </a:p>
        </p:txBody>
      </p:sp>
      <p:sp>
        <p:nvSpPr>
          <p:cNvPr id="4" name="矩形: 圆角 124"/>
          <p:cNvSpPr/>
          <p:nvPr/>
        </p:nvSpPr>
        <p:spPr>
          <a:xfrm>
            <a:off x="1061720" y="3920490"/>
            <a:ext cx="3026410" cy="25781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 anchorCtr="0"/>
          <a:p>
            <a:pPr algn="ctr"/>
            <a:r>
              <a:rPr lang="en-US" altLang="zh-CN" sz="1200" dirty="0">
                <a:latin typeface="Times New Roman" panose="02020503050405090304" pitchFamily="18" charset="0"/>
                <a:ea typeface="微软雅黑" panose="020B0503020204020204" pitchFamily="34" charset="-122"/>
              </a:rPr>
              <a:t>Requests</a:t>
            </a:r>
            <a:endParaRPr lang="en-US" altLang="zh-CN" sz="1200" dirty="0">
              <a:latin typeface="Times New Roman" panose="02020503050405090304" pitchFamily="18" charset="0"/>
              <a:ea typeface="微软雅黑" panose="020B0503020204020204" pitchFamily="34" charset="-122"/>
            </a:endParaRPr>
          </a:p>
        </p:txBody>
      </p:sp>
      <p:sp>
        <p:nvSpPr>
          <p:cNvPr id="5" name="矩形: 圆角 123"/>
          <p:cNvSpPr/>
          <p:nvPr/>
        </p:nvSpPr>
        <p:spPr>
          <a:xfrm>
            <a:off x="4164141" y="5293703"/>
            <a:ext cx="902643" cy="25806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 anchorCtr="0"/>
          <a:p>
            <a:pPr algn="ctr"/>
            <a:r>
              <a:rPr lang="en-US" altLang="zh-CN" sz="1200">
                <a:latin typeface="Times New Roman" panose="02020503050405090304" pitchFamily="18" charset="0"/>
                <a:ea typeface="微软雅黑" panose="020B0503020204020204" pitchFamily="34" charset="-122"/>
              </a:rPr>
              <a:t>YOLO</a:t>
            </a:r>
            <a:endParaRPr lang="en-US" altLang="zh-CN" sz="1200">
              <a:latin typeface="Times New Roman" panose="02020503050405090304" pitchFamily="18" charset="0"/>
              <a:ea typeface="微软雅黑" panose="020B0503020204020204" pitchFamily="34" charset="-122"/>
            </a:endParaRPr>
          </a:p>
        </p:txBody>
      </p:sp>
      <p:sp>
        <p:nvSpPr>
          <p:cNvPr id="6" name="矩形: 圆角 126"/>
          <p:cNvSpPr/>
          <p:nvPr/>
        </p:nvSpPr>
        <p:spPr>
          <a:xfrm>
            <a:off x="5242560" y="5293995"/>
            <a:ext cx="931545" cy="25781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 anchorCtr="0"/>
          <a:p>
            <a:pPr algn="ctr"/>
            <a:r>
              <a:rPr lang="en-US" altLang="zh-CN" sz="1200" dirty="0">
                <a:latin typeface="Times New Roman" panose="02020503050405090304" pitchFamily="18" charset="0"/>
                <a:ea typeface="微软雅黑" panose="020B0503020204020204" pitchFamily="34" charset="-122"/>
              </a:rPr>
              <a:t>OpenCV</a:t>
            </a:r>
            <a:endParaRPr lang="en-US" altLang="zh-CN" sz="1200" dirty="0">
              <a:latin typeface="Times New Roman" panose="02020503050405090304" pitchFamily="18" charset="0"/>
              <a:ea typeface="微软雅黑" panose="020B0503020204020204" pitchFamily="34" charset="-122"/>
            </a:endParaRPr>
          </a:p>
        </p:txBody>
      </p:sp>
      <p:sp>
        <p:nvSpPr>
          <p:cNvPr id="7" name="矩形: 圆角 124"/>
          <p:cNvSpPr/>
          <p:nvPr/>
        </p:nvSpPr>
        <p:spPr>
          <a:xfrm>
            <a:off x="4201795" y="3920490"/>
            <a:ext cx="3026410" cy="25781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 anchorCtr="0"/>
          <a:p>
            <a:pPr algn="ctr"/>
            <a:r>
              <a:rPr lang="en-US" altLang="zh-CN" sz="1200" dirty="0">
                <a:latin typeface="Times New Roman" panose="02020503050405090304" pitchFamily="18" charset="0"/>
                <a:ea typeface="微软雅黑" panose="020B0503020204020204" pitchFamily="34" charset="-122"/>
              </a:rPr>
              <a:t>PyJwt</a:t>
            </a:r>
            <a:endParaRPr lang="en-US" altLang="zh-CN" sz="1200" dirty="0">
              <a:latin typeface="Times New Roman" panose="02020503050405090304" pitchFamily="18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文本框 72"/>
          <p:cNvSpPr txBox="1"/>
          <p:nvPr/>
        </p:nvSpPr>
        <p:spPr>
          <a:xfrm>
            <a:off x="316307" y="104775"/>
            <a:ext cx="1325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架构</a:t>
            </a:r>
            <a:r>
              <a:rPr lang="zh-CN" altLang="en-US" dirty="0"/>
              <a:t>交互图</a:t>
            </a:r>
            <a:endParaRPr lang="zh-CN" altLang="en-US" dirty="0"/>
          </a:p>
        </p:txBody>
      </p:sp>
      <p:pic>
        <p:nvPicPr>
          <p:cNvPr id="2" name="图片 1" descr="未命名绘图.drawio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1734185"/>
            <a:ext cx="9143365" cy="338899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未命名绘图.drawio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8950960" cy="6858000"/>
          </a:xfrm>
          <a:prstGeom prst="rect">
            <a:avLst/>
          </a:prstGeom>
        </p:spPr>
      </p:pic>
      <p:sp>
        <p:nvSpPr>
          <p:cNvPr id="73" name="文本框 72"/>
          <p:cNvSpPr txBox="1"/>
          <p:nvPr/>
        </p:nvSpPr>
        <p:spPr>
          <a:xfrm>
            <a:off x="78817" y="92075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功能模块图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文本框 72"/>
          <p:cNvSpPr txBox="1"/>
          <p:nvPr/>
        </p:nvSpPr>
        <p:spPr>
          <a:xfrm>
            <a:off x="118745" y="104775"/>
            <a:ext cx="427990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dirty="0"/>
              <a:t>文档索引构建流程图</a:t>
            </a:r>
            <a:endParaRPr lang="zh-CN" altLang="en-US" dirty="0"/>
          </a:p>
        </p:txBody>
      </p:sp>
      <p:pic>
        <p:nvPicPr>
          <p:cNvPr id="4" name="图片 3" descr="未命名绘图.drawio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58210" y="0"/>
            <a:ext cx="222694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文本框 72"/>
          <p:cNvSpPr txBox="1"/>
          <p:nvPr/>
        </p:nvSpPr>
        <p:spPr>
          <a:xfrm>
            <a:off x="118745" y="104775"/>
            <a:ext cx="427990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dirty="0"/>
              <a:t>检索</a:t>
            </a:r>
            <a:r>
              <a:rPr lang="zh-CN" altLang="en-US" dirty="0"/>
              <a:t>问答模块</a:t>
            </a:r>
            <a:endParaRPr lang="zh-CN" altLang="en-US" dirty="0"/>
          </a:p>
          <a:p>
            <a:pPr algn="l"/>
            <a:r>
              <a:rPr lang="zh-CN" altLang="en-US" dirty="0"/>
              <a:t>流程图</a:t>
            </a:r>
            <a:endParaRPr lang="zh-CN" altLang="en-US" dirty="0"/>
          </a:p>
        </p:txBody>
      </p:sp>
      <p:pic>
        <p:nvPicPr>
          <p:cNvPr id="2" name="图片 1" descr="未命名绘图.drawio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47315" y="0"/>
            <a:ext cx="38493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文本框 72"/>
          <p:cNvSpPr txBox="1"/>
          <p:nvPr/>
        </p:nvSpPr>
        <p:spPr>
          <a:xfrm>
            <a:off x="118745" y="104775"/>
            <a:ext cx="427990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dirty="0"/>
              <a:t>检索</a:t>
            </a:r>
            <a:r>
              <a:rPr lang="zh-CN" altLang="en-US" dirty="0"/>
              <a:t>问答模块</a:t>
            </a:r>
            <a:endParaRPr lang="zh-CN" altLang="en-US" dirty="0"/>
          </a:p>
          <a:p>
            <a:pPr algn="l"/>
            <a:r>
              <a:rPr lang="zh-CN" altLang="en-US" dirty="0"/>
              <a:t>时序图</a:t>
            </a:r>
            <a:endParaRPr lang="zh-CN" altLang="en-US" dirty="0"/>
          </a:p>
        </p:txBody>
      </p:sp>
      <p:pic>
        <p:nvPicPr>
          <p:cNvPr id="3" name="图片 2" descr="未命名绘图.drawio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9775" y="0"/>
            <a:ext cx="766381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3" name="文本框 72"/>
          <p:cNvSpPr txBox="1"/>
          <p:nvPr/>
        </p:nvSpPr>
        <p:spPr>
          <a:xfrm>
            <a:off x="316307" y="104775"/>
            <a:ext cx="15544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dirty="0"/>
              <a:t>技术栈</a:t>
            </a:r>
            <a:r>
              <a:rPr lang="zh-CN" altLang="en-US" dirty="0"/>
              <a:t>架构图</a:t>
            </a:r>
            <a:endParaRPr lang="zh-CN" altLang="en-US" dirty="0"/>
          </a:p>
        </p:txBody>
      </p:sp>
      <p:pic>
        <p:nvPicPr>
          <p:cNvPr id="2" name="图片 1" descr="未命名绘图.drawio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59685" y="0"/>
            <a:ext cx="40239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未命名绘图.drawio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0835" y="0"/>
            <a:ext cx="8481695" cy="6858000"/>
          </a:xfrm>
          <a:prstGeom prst="rect">
            <a:avLst/>
          </a:prstGeom>
        </p:spPr>
      </p:pic>
      <p:sp>
        <p:nvSpPr>
          <p:cNvPr id="73" name="文本框 72"/>
          <p:cNvSpPr txBox="1"/>
          <p:nvPr/>
        </p:nvSpPr>
        <p:spPr>
          <a:xfrm>
            <a:off x="146685" y="104775"/>
            <a:ext cx="321945" cy="23418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dirty="0"/>
              <a:t>数据流</a:t>
            </a:r>
            <a:r>
              <a:rPr lang="zh-CN" altLang="en-US" dirty="0"/>
              <a:t>流程图</a:t>
            </a:r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3" name="文本框 72"/>
          <p:cNvSpPr txBox="1"/>
          <p:nvPr/>
        </p:nvSpPr>
        <p:spPr>
          <a:xfrm>
            <a:off x="316230" y="104775"/>
            <a:ext cx="38862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dirty="0"/>
              <a:t>数据流</a:t>
            </a:r>
            <a:r>
              <a:rPr lang="zh-CN" altLang="en-US" dirty="0"/>
              <a:t>时序图</a:t>
            </a:r>
            <a:endParaRPr lang="zh-CN" altLang="en-US" dirty="0"/>
          </a:p>
        </p:txBody>
      </p:sp>
      <p:pic>
        <p:nvPicPr>
          <p:cNvPr id="2" name="图片 1" descr="未命名绘图.drawio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27580" y="0"/>
            <a:ext cx="468884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495</Words>
  <Application>WPS 文字</Application>
  <PresentationFormat>全屏显示(4:3)</PresentationFormat>
  <Paragraphs>168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6" baseType="lpstr">
      <vt:lpstr>Arial</vt:lpstr>
      <vt:lpstr>宋体</vt:lpstr>
      <vt:lpstr>Wingdings</vt:lpstr>
      <vt:lpstr>Times New Roman</vt:lpstr>
      <vt:lpstr>微软雅黑</vt:lpstr>
      <vt:lpstr>汉仪旗黑</vt:lpstr>
      <vt:lpstr>等线</vt:lpstr>
      <vt:lpstr>汉仪中等线KW</vt:lpstr>
      <vt:lpstr>Calibri</vt:lpstr>
      <vt:lpstr>Helvetica Neue</vt:lpstr>
      <vt:lpstr>宋体</vt:lpstr>
      <vt:lpstr>Arial Unicode MS</vt:lpstr>
      <vt:lpstr>等线 Light</vt:lpstr>
      <vt:lpstr>Calibri Light</vt:lpstr>
      <vt:lpstr>汉仪书宋二KW</vt:lpstr>
      <vt:lpstr>微软雅黑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Pengjie Ren</dc:creator>
  <cp:lastModifiedBy>嘿嘿嘿</cp:lastModifiedBy>
  <cp:revision>2327</cp:revision>
  <dcterms:created xsi:type="dcterms:W3CDTF">2025-10-11T04:05:12Z</dcterms:created>
  <dcterms:modified xsi:type="dcterms:W3CDTF">2025-10-11T04:05:12Z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2C4457ED641F4EDE50509B682578A54A_42</vt:lpwstr>
  </property>
  <property fmtid="{D5CDD505-2E9C-101B-9397-08002B2CF9AE}" pid="3" name="KSOProductBuildVer">
    <vt:lpwstr>2052-12.1.21861.21861</vt:lpwstr>
  </property>
</Properties>
</file>